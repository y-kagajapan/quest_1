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8" r:id="rId2"/>
    <p:sldId id="256" r:id="rId3"/>
    <p:sldId id="260" r:id="rId4"/>
    <p:sldId id="266" r:id="rId5"/>
    <p:sldId id="267" r:id="rId6"/>
    <p:sldId id="261" r:id="rId7"/>
    <p:sldId id="262" r:id="rId8"/>
    <p:sldId id="268" r:id="rId9"/>
    <p:sldId id="263" r:id="rId10"/>
    <p:sldId id="264" r:id="rId11"/>
    <p:sldId id="265" r:id="rId12"/>
  </p:sldIdLst>
  <p:sldSz cx="12192000" cy="6858000"/>
  <p:notesSz cx="6858000" cy="9144000"/>
  <p:embeddedFontLst>
    <p:embeddedFont>
      <p:font typeface="Noto Sans JP" panose="020B0200000000000000" pitchFamily="50" charset="-128"/>
      <p:regular r:id="rId14"/>
      <p:bold r:id="rId15"/>
    </p:embeddedFont>
    <p:embeddedFont>
      <p:font typeface="メイリオ" panose="020B0604030504040204" pitchFamily="50" charset="-128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31F34D-DCFE-40E2-951B-98DF4C5FE129}">
  <a:tblStyle styleId="{6331F34D-DCFE-40E2-951B-98DF4C5FE12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2" autoAdjust="0"/>
    <p:restoredTop sz="94764" autoAdjust="0"/>
  </p:normalViewPr>
  <p:slideViewPr>
    <p:cSldViewPr snapToGrid="0">
      <p:cViewPr varScale="1">
        <p:scale>
          <a:sx n="78" d="100"/>
          <a:sy n="78" d="100"/>
        </p:scale>
        <p:origin x="173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84;p13" descr="image.png">
            <a:extLst>
              <a:ext uri="{FF2B5EF4-FFF2-40B4-BE49-F238E27FC236}">
                <a16:creationId xmlns:a16="http://schemas.microsoft.com/office/drawing/2014/main" id="{D7F205C5-879C-5929-F500-C8A79D25BBC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5;p13">
            <a:extLst>
              <a:ext uri="{FF2B5EF4-FFF2-40B4-BE49-F238E27FC236}">
                <a16:creationId xmlns:a16="http://schemas.microsoft.com/office/drawing/2014/main" id="{2CDE85F9-B3EB-1CF2-0989-99C6DF55B232}"/>
              </a:ext>
            </a:extLst>
          </p:cNvPr>
          <p:cNvSpPr txBox="1"/>
          <p:nvPr/>
        </p:nvSpPr>
        <p:spPr>
          <a:xfrm>
            <a:off x="2074607" y="2579340"/>
            <a:ext cx="734469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48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開発管理統合システム</a:t>
            </a:r>
            <a:br>
              <a:rPr lang="ja-JP" alt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ja-JP" altLang="en-US" sz="48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 データベース設計書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39143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821" y="3530673"/>
            <a:ext cx="1905000" cy="4029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821" y="1999177"/>
            <a:ext cx="1905000" cy="3048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62" y="2845791"/>
            <a:ext cx="1905000" cy="2625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01075" y="2425038"/>
            <a:ext cx="1905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44255" y="4155153"/>
            <a:ext cx="1905000" cy="22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62651" y="3030230"/>
            <a:ext cx="2247900" cy="87353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98" name="Google Shape;98;p13"/>
          <p:cNvSpPr txBox="1"/>
          <p:nvPr/>
        </p:nvSpPr>
        <p:spPr>
          <a:xfrm>
            <a:off x="571500" y="760809"/>
            <a:ext cx="116014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2700" b="1" i="0" u="none" strike="noStrike" cap="none" dirty="0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ER</a:t>
            </a:r>
            <a:r>
              <a:rPr lang="ja-JP" altLang="en-US" sz="2700" b="1" i="0" u="none" strike="noStrike" cap="none" dirty="0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図（リレーション図）</a:t>
            </a:r>
            <a:endParaRPr lang="ja-JP" altLang="en-US" dirty="0"/>
          </a:p>
        </p:txBody>
      </p:sp>
      <p:sp>
        <p:nvSpPr>
          <p:cNvPr id="99" name="Google Shape;99;p13"/>
          <p:cNvSpPr/>
          <p:nvPr/>
        </p:nvSpPr>
        <p:spPr>
          <a:xfrm>
            <a:off x="571500" y="1351359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5955507" y="2792652"/>
            <a:ext cx="20574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TB_matter</a:t>
            </a:r>
            <a:r>
              <a:rPr lang="en-US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 (</a:t>
            </a:r>
            <a:r>
              <a:rPr lang="en-US" sz="1050" b="1" i="0" u="none" strike="noStrike" cap="none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案件情報</a:t>
            </a:r>
            <a:r>
              <a:rPr lang="en-US" sz="1050" b="1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r>
              <a:rPr lang="en-US" sz="1050" b="1" i="0" u="none" strike="noStrike" cap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/>
          </a:p>
        </p:txBody>
      </p:sp>
      <p:sp>
        <p:nvSpPr>
          <p:cNvPr id="109" name="Google Shape;109;p13"/>
          <p:cNvSpPr/>
          <p:nvPr/>
        </p:nvSpPr>
        <p:spPr>
          <a:xfrm>
            <a:off x="1543050" y="2627709"/>
            <a:ext cx="1885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901066" y="3329285"/>
            <a:ext cx="16954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TB_team</a:t>
            </a:r>
            <a:r>
              <a:rPr lang="en-US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 (</a:t>
            </a:r>
            <a:r>
              <a:rPr lang="en-US" sz="1050" b="1" i="0" u="none" strike="noStrike" cap="none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部署</a:t>
            </a:r>
            <a:r>
              <a:rPr lang="en-US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9163050" y="2151459"/>
            <a:ext cx="1885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850583" y="1774687"/>
            <a:ext cx="16954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TB_staff</a:t>
            </a:r>
            <a:r>
              <a:rPr lang="en-US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 (</a:t>
            </a:r>
            <a:r>
              <a:rPr lang="en-US" sz="1050" b="1" i="0" u="none" strike="noStrike" cap="none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社員</a:t>
            </a:r>
            <a:r>
              <a:rPr lang="en-US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9639300" y="3770709"/>
            <a:ext cx="1885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939166" y="2605551"/>
            <a:ext cx="16954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TB_post</a:t>
            </a:r>
            <a:r>
              <a:rPr lang="en-US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 (</a:t>
            </a:r>
            <a:r>
              <a:rPr lang="en-US" sz="1050" b="1" i="0" u="none" strike="noStrike" cap="none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役職</a:t>
            </a:r>
            <a:r>
              <a:rPr lang="en-US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8644255" y="2239722"/>
            <a:ext cx="16954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TB_status</a:t>
            </a:r>
            <a:r>
              <a:rPr lang="en-US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 (</a:t>
            </a:r>
            <a:r>
              <a:rPr lang="en-US" sz="1050" b="1" i="0" u="none" strike="noStrike" cap="none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状態</a:t>
            </a:r>
            <a:r>
              <a:rPr lang="en-US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8724900" y="3933625"/>
            <a:ext cx="16954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TB_category</a:t>
            </a:r>
            <a:r>
              <a:rPr lang="en-US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 (</a:t>
            </a:r>
            <a:r>
              <a:rPr lang="ja-JP" altLang="en-US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カテゴリ</a:t>
            </a:r>
            <a:r>
              <a:rPr lang="en-US" sz="1050" b="1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/>
          </a:p>
        </p:txBody>
      </p:sp>
      <p:sp>
        <p:nvSpPr>
          <p:cNvPr id="119" name="Google Shape;119;p13"/>
          <p:cNvSpPr txBox="1"/>
          <p:nvPr/>
        </p:nvSpPr>
        <p:spPr>
          <a:xfrm>
            <a:off x="6007895" y="3069198"/>
            <a:ext cx="20955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59E0B"/>
                </a:solidFill>
                <a:latin typeface="Noto Sans JP"/>
                <a:ea typeface="Noto Sans JP"/>
                <a:cs typeface="Noto Sans JP"/>
                <a:sym typeface="Noto Sans JP"/>
              </a:rPr>
              <a:t>PK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matter_id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ja-JP" alt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案件番号</a:t>
            </a:r>
            <a:r>
              <a:rPr lang="en-US" altLang="ja-JP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/>
          </a:p>
        </p:txBody>
      </p:sp>
      <p:sp>
        <p:nvSpPr>
          <p:cNvPr id="120" name="Google Shape;120;p13"/>
          <p:cNvSpPr txBox="1"/>
          <p:nvPr/>
        </p:nvSpPr>
        <p:spPr>
          <a:xfrm>
            <a:off x="6007895" y="3231123"/>
            <a:ext cx="20955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3B82F6"/>
                </a:solidFill>
                <a:latin typeface="Noto Sans JP"/>
                <a:ea typeface="Noto Sans JP"/>
                <a:cs typeface="Noto Sans JP"/>
                <a:sym typeface="Noto Sans JP"/>
              </a:rPr>
              <a:t>FK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user_id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ja-JP" alt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担当ユーザー</a:t>
            </a:r>
            <a:r>
              <a:rPr lang="en-US" altLang="ja-JP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ID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/>
          </a:p>
        </p:txBody>
      </p:sp>
      <p:sp>
        <p:nvSpPr>
          <p:cNvPr id="121" name="Google Shape;121;p13"/>
          <p:cNvSpPr txBox="1"/>
          <p:nvPr/>
        </p:nvSpPr>
        <p:spPr>
          <a:xfrm>
            <a:off x="6007895" y="3393048"/>
            <a:ext cx="20955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3B82F6"/>
                </a:solidFill>
                <a:latin typeface="Noto Sans JP"/>
                <a:ea typeface="Noto Sans JP"/>
                <a:cs typeface="Noto Sans JP"/>
                <a:sym typeface="Noto Sans JP"/>
              </a:rPr>
              <a:t>FK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team_id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ja-JP" alt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部署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ID)</a:t>
            </a:r>
            <a:endParaRPr dirty="0"/>
          </a:p>
        </p:txBody>
      </p:sp>
      <p:sp>
        <p:nvSpPr>
          <p:cNvPr id="122" name="Google Shape;122;p13"/>
          <p:cNvSpPr txBox="1"/>
          <p:nvPr/>
        </p:nvSpPr>
        <p:spPr>
          <a:xfrm>
            <a:off x="6011388" y="3675376"/>
            <a:ext cx="20955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3B82F6"/>
                </a:solidFill>
                <a:latin typeface="Noto Sans JP"/>
                <a:ea typeface="Noto Sans JP"/>
                <a:cs typeface="Noto Sans JP"/>
                <a:sym typeface="Noto Sans JP"/>
              </a:rPr>
              <a:t>FK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category_id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ja-JP" alt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カテゴリ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ID)</a:t>
            </a:r>
            <a:endParaRPr dirty="0"/>
          </a:p>
        </p:txBody>
      </p:sp>
      <p:sp>
        <p:nvSpPr>
          <p:cNvPr id="125" name="Google Shape;125;p13"/>
          <p:cNvSpPr txBox="1"/>
          <p:nvPr/>
        </p:nvSpPr>
        <p:spPr>
          <a:xfrm>
            <a:off x="920116" y="3671414"/>
            <a:ext cx="173355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59E0B"/>
                </a:solidFill>
                <a:latin typeface="Noto Sans JP"/>
                <a:ea typeface="Noto Sans JP"/>
                <a:cs typeface="Noto Sans JP"/>
                <a:sym typeface="Noto Sans JP"/>
              </a:rPr>
              <a:t>PK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team_id</a:t>
            </a:r>
            <a:r>
              <a:rPr lang="en-US" sz="9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ja-JP" alt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部署</a:t>
            </a:r>
            <a:r>
              <a:rPr lang="en-US" altLang="ja-JP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iD</a:t>
            </a:r>
            <a:r>
              <a:rPr lang="en-US" altLang="ja-JP" sz="9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/>
          </a:p>
        </p:txBody>
      </p:sp>
      <p:sp>
        <p:nvSpPr>
          <p:cNvPr id="127" name="Google Shape;127;p13"/>
          <p:cNvSpPr txBox="1"/>
          <p:nvPr/>
        </p:nvSpPr>
        <p:spPr>
          <a:xfrm>
            <a:off x="901066" y="2066952"/>
            <a:ext cx="173355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59E0B"/>
                </a:solidFill>
                <a:latin typeface="Noto Sans JP"/>
                <a:ea typeface="Noto Sans JP"/>
                <a:cs typeface="Noto Sans JP"/>
                <a:sym typeface="Noto Sans JP"/>
              </a:rPr>
              <a:t>PK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staff_id</a:t>
            </a:r>
            <a:r>
              <a:rPr lang="en-US" sz="9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ja-JP" alt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社員番号</a:t>
            </a:r>
            <a:r>
              <a:rPr lang="en-US" altLang="ja-JP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/>
          </a:p>
        </p:txBody>
      </p:sp>
      <p:sp>
        <p:nvSpPr>
          <p:cNvPr id="131" name="Google Shape;131;p13"/>
          <p:cNvSpPr txBox="1"/>
          <p:nvPr/>
        </p:nvSpPr>
        <p:spPr>
          <a:xfrm>
            <a:off x="901066" y="2897273"/>
            <a:ext cx="173355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59E0B"/>
                </a:solidFill>
                <a:latin typeface="Noto Sans JP"/>
                <a:ea typeface="Noto Sans JP"/>
                <a:cs typeface="Noto Sans JP"/>
                <a:sym typeface="Noto Sans JP"/>
              </a:rPr>
              <a:t>PK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post_id</a:t>
            </a:r>
            <a:r>
              <a:rPr lang="en-US" sz="9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ja-JP" alt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役職</a:t>
            </a:r>
            <a:r>
              <a:rPr lang="en-US" altLang="ja-JP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ID</a:t>
            </a:r>
            <a:r>
              <a:rPr lang="en-US" altLang="ja-JP" sz="9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/>
          </a:p>
        </p:txBody>
      </p:sp>
      <p:sp>
        <p:nvSpPr>
          <p:cNvPr id="133" name="Google Shape;133;p13"/>
          <p:cNvSpPr txBox="1"/>
          <p:nvPr/>
        </p:nvSpPr>
        <p:spPr>
          <a:xfrm>
            <a:off x="8686800" y="2497630"/>
            <a:ext cx="173355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59E0B"/>
                </a:solidFill>
                <a:latin typeface="Noto Sans JP"/>
                <a:ea typeface="Noto Sans JP"/>
                <a:cs typeface="Noto Sans JP"/>
                <a:sym typeface="Noto Sans JP"/>
              </a:rPr>
              <a:t>PK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status_id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ja-JP" alt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ステータス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ID)</a:t>
            </a:r>
            <a:endParaRPr dirty="0"/>
          </a:p>
        </p:txBody>
      </p:sp>
      <p:sp>
        <p:nvSpPr>
          <p:cNvPr id="135" name="Google Shape;135;p13"/>
          <p:cNvSpPr txBox="1"/>
          <p:nvPr/>
        </p:nvSpPr>
        <p:spPr>
          <a:xfrm>
            <a:off x="8729980" y="4202808"/>
            <a:ext cx="173355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59E0B"/>
                </a:solidFill>
                <a:latin typeface="Noto Sans JP"/>
                <a:ea typeface="Noto Sans JP"/>
                <a:cs typeface="Noto Sans JP"/>
                <a:sym typeface="Noto Sans JP"/>
              </a:rPr>
              <a:t>PK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category_id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ja-JP" alt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カテゴリ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ID)</a:t>
            </a:r>
            <a:endParaRPr dirty="0"/>
          </a:p>
        </p:txBody>
      </p:sp>
      <p:pic>
        <p:nvPicPr>
          <p:cNvPr id="2" name="Google Shape;86;p13" descr="image.png">
            <a:extLst>
              <a:ext uri="{FF2B5EF4-FFF2-40B4-BE49-F238E27FC236}">
                <a16:creationId xmlns:a16="http://schemas.microsoft.com/office/drawing/2014/main" id="{523F04ED-BEE2-C21C-EC9E-7132AF73A6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1845" y="2121062"/>
            <a:ext cx="2057400" cy="6477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3" name="Google Shape;110;p13">
            <a:extLst>
              <a:ext uri="{FF2B5EF4-FFF2-40B4-BE49-F238E27FC236}">
                <a16:creationId xmlns:a16="http://schemas.microsoft.com/office/drawing/2014/main" id="{A218FF68-A72C-3CB3-367D-B1258BA5666F}"/>
              </a:ext>
            </a:extLst>
          </p:cNvPr>
          <p:cNvSpPr txBox="1"/>
          <p:nvPr/>
        </p:nvSpPr>
        <p:spPr>
          <a:xfrm>
            <a:off x="3343277" y="1940339"/>
            <a:ext cx="16954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TB_ID (</a:t>
            </a:r>
            <a:r>
              <a:rPr lang="ja-JP" altLang="en-US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ログイン</a:t>
            </a:r>
            <a:r>
              <a:rPr lang="en-US" altLang="ja-JP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Google Shape;133;p13">
            <a:extLst>
              <a:ext uri="{FF2B5EF4-FFF2-40B4-BE49-F238E27FC236}">
                <a16:creationId xmlns:a16="http://schemas.microsoft.com/office/drawing/2014/main" id="{E8F81093-A728-8A10-47E2-16EEF4D2324A}"/>
              </a:ext>
            </a:extLst>
          </p:cNvPr>
          <p:cNvSpPr txBox="1"/>
          <p:nvPr/>
        </p:nvSpPr>
        <p:spPr>
          <a:xfrm>
            <a:off x="3401855" y="2146096"/>
            <a:ext cx="2134553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59E0B"/>
                </a:solidFill>
                <a:latin typeface="Noto Sans JP"/>
                <a:ea typeface="Noto Sans JP"/>
                <a:cs typeface="Noto Sans JP"/>
                <a:sym typeface="Noto Sans JP"/>
              </a:rPr>
              <a:t>PK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user_id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9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ja-JP" alt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ログイン用ユーザー</a:t>
            </a:r>
            <a:r>
              <a:rPr lang="en-US" altLang="ja-JP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ID </a:t>
            </a:r>
            <a:r>
              <a:rPr lang="en-US" altLang="ja-JP" sz="9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/>
          </a:p>
        </p:txBody>
      </p:sp>
      <p:sp>
        <p:nvSpPr>
          <p:cNvPr id="12" name="Google Shape;133;p13">
            <a:extLst>
              <a:ext uri="{FF2B5EF4-FFF2-40B4-BE49-F238E27FC236}">
                <a16:creationId xmlns:a16="http://schemas.microsoft.com/office/drawing/2014/main" id="{E0C2C9F9-59E9-61C3-9E9F-423A3351C5C6}"/>
              </a:ext>
            </a:extLst>
          </p:cNvPr>
          <p:cNvSpPr txBox="1"/>
          <p:nvPr/>
        </p:nvSpPr>
        <p:spPr>
          <a:xfrm>
            <a:off x="3405028" y="2331534"/>
            <a:ext cx="173355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900" b="1" i="0" u="none" strike="noStrike" cap="none" dirty="0">
                <a:solidFill>
                  <a:srgbClr val="3B82F6"/>
                </a:solidFill>
                <a:latin typeface="Noto Sans JP"/>
                <a:ea typeface="Noto Sans JP"/>
                <a:cs typeface="Noto Sans JP"/>
                <a:sym typeface="Noto Sans JP"/>
              </a:rPr>
              <a:t>FK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post_id</a:t>
            </a:r>
            <a:r>
              <a:rPr lang="en-US" sz="9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ja-JP" alt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役職</a:t>
            </a:r>
            <a:r>
              <a:rPr lang="en-US" altLang="ja-JP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ID </a:t>
            </a:r>
            <a:r>
              <a:rPr lang="en-US" altLang="ja-JP" sz="9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/>
          </a:p>
        </p:txBody>
      </p:sp>
      <p:sp>
        <p:nvSpPr>
          <p:cNvPr id="30" name="Google Shape;133;p13">
            <a:extLst>
              <a:ext uri="{FF2B5EF4-FFF2-40B4-BE49-F238E27FC236}">
                <a16:creationId xmlns:a16="http://schemas.microsoft.com/office/drawing/2014/main" id="{6D562577-2160-F488-2B3F-3BDDA3CA71EF}"/>
              </a:ext>
            </a:extLst>
          </p:cNvPr>
          <p:cNvSpPr txBox="1"/>
          <p:nvPr/>
        </p:nvSpPr>
        <p:spPr>
          <a:xfrm>
            <a:off x="3406932" y="2536301"/>
            <a:ext cx="173355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900" b="1" i="0" u="none" strike="noStrike" cap="none" dirty="0">
                <a:solidFill>
                  <a:srgbClr val="3B82F6"/>
                </a:solidFill>
                <a:latin typeface="Noto Sans JP"/>
                <a:ea typeface="Noto Sans JP"/>
                <a:cs typeface="Noto Sans JP"/>
                <a:sym typeface="Noto Sans JP"/>
              </a:rPr>
              <a:t>FK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altLang="ja-JP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team_id</a:t>
            </a:r>
            <a:r>
              <a:rPr lang="en-US" altLang="ja-JP" sz="9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ja-JP" alt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部署</a:t>
            </a:r>
            <a:r>
              <a:rPr lang="en-US" altLang="ja-JP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iD</a:t>
            </a:r>
            <a:r>
              <a:rPr lang="en-US" altLang="ja-JP" sz="9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/>
          </a:p>
        </p:txBody>
      </p:sp>
      <p:sp>
        <p:nvSpPr>
          <p:cNvPr id="46" name="Google Shape;122;p13">
            <a:extLst>
              <a:ext uri="{FF2B5EF4-FFF2-40B4-BE49-F238E27FC236}">
                <a16:creationId xmlns:a16="http://schemas.microsoft.com/office/drawing/2014/main" id="{162551A4-F239-F7E8-EEF0-B17BEB538BC0}"/>
              </a:ext>
            </a:extLst>
          </p:cNvPr>
          <p:cNvSpPr txBox="1"/>
          <p:nvPr/>
        </p:nvSpPr>
        <p:spPr>
          <a:xfrm>
            <a:off x="6004249" y="3534863"/>
            <a:ext cx="20955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3B82F6"/>
                </a:solidFill>
                <a:latin typeface="Noto Sans JP"/>
                <a:ea typeface="Noto Sans JP"/>
                <a:cs typeface="Noto Sans JP"/>
                <a:sym typeface="Noto Sans JP"/>
              </a:rPr>
              <a:t>FK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status(</a:t>
            </a:r>
            <a:r>
              <a:rPr lang="ja-JP" alt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ステータス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ID)</a:t>
            </a:r>
            <a:endParaRPr dirty="0"/>
          </a:p>
        </p:txBody>
      </p:sp>
      <p:pic>
        <p:nvPicPr>
          <p:cNvPr id="47" name="Google Shape;86;p13" descr="image.png">
            <a:extLst>
              <a:ext uri="{FF2B5EF4-FFF2-40B4-BE49-F238E27FC236}">
                <a16:creationId xmlns:a16="http://schemas.microsoft.com/office/drawing/2014/main" id="{D7783A23-C3CF-D817-1FF5-ED40F09615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28036" y="4133641"/>
            <a:ext cx="2057400" cy="4061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48" name="Google Shape;110;p13">
            <a:extLst>
              <a:ext uri="{FF2B5EF4-FFF2-40B4-BE49-F238E27FC236}">
                <a16:creationId xmlns:a16="http://schemas.microsoft.com/office/drawing/2014/main" id="{F980514A-B924-C998-ACC6-65E38D6D9AE8}"/>
              </a:ext>
            </a:extLst>
          </p:cNvPr>
          <p:cNvSpPr txBox="1"/>
          <p:nvPr/>
        </p:nvSpPr>
        <p:spPr>
          <a:xfrm>
            <a:off x="3343277" y="3904739"/>
            <a:ext cx="16954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TB_budget</a:t>
            </a:r>
            <a:r>
              <a:rPr lang="en-US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ja-JP" altLang="en-US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予算</a:t>
            </a:r>
            <a:r>
              <a:rPr lang="en-US" altLang="ja-JP" sz="1050" b="1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2" name="Google Shape;133;p13">
            <a:extLst>
              <a:ext uri="{FF2B5EF4-FFF2-40B4-BE49-F238E27FC236}">
                <a16:creationId xmlns:a16="http://schemas.microsoft.com/office/drawing/2014/main" id="{7594FA50-A314-F187-82E6-08F6169A9E08}"/>
              </a:ext>
            </a:extLst>
          </p:cNvPr>
          <p:cNvSpPr txBox="1"/>
          <p:nvPr/>
        </p:nvSpPr>
        <p:spPr>
          <a:xfrm>
            <a:off x="3383120" y="4164937"/>
            <a:ext cx="2134553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59E0B"/>
                </a:solidFill>
                <a:latin typeface="Noto Sans JP"/>
                <a:ea typeface="Noto Sans JP"/>
                <a:cs typeface="Noto Sans JP"/>
                <a:sym typeface="Noto Sans JP"/>
              </a:rPr>
              <a:t>PK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budget_id</a:t>
            </a:r>
            <a:r>
              <a:rPr lang="en-US" sz="9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ja-JP" alt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予算管理</a:t>
            </a:r>
            <a:r>
              <a:rPr lang="en-US" altLang="ja-JP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ID </a:t>
            </a:r>
            <a:r>
              <a:rPr lang="en-US" altLang="ja-JP" sz="9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/>
          </a:p>
        </p:txBody>
      </p:sp>
      <p:sp>
        <p:nvSpPr>
          <p:cNvPr id="53" name="Google Shape;133;p13">
            <a:extLst>
              <a:ext uri="{FF2B5EF4-FFF2-40B4-BE49-F238E27FC236}">
                <a16:creationId xmlns:a16="http://schemas.microsoft.com/office/drawing/2014/main" id="{29C941DD-735A-CF35-4A57-34B2AA0FB071}"/>
              </a:ext>
            </a:extLst>
          </p:cNvPr>
          <p:cNvSpPr txBox="1"/>
          <p:nvPr/>
        </p:nvSpPr>
        <p:spPr>
          <a:xfrm>
            <a:off x="3399395" y="4330109"/>
            <a:ext cx="173355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900" b="1" i="0" u="none" strike="noStrike" cap="none" dirty="0">
                <a:solidFill>
                  <a:srgbClr val="3B82F6"/>
                </a:solidFill>
                <a:latin typeface="Noto Sans JP"/>
                <a:ea typeface="Noto Sans JP"/>
                <a:cs typeface="Noto Sans JP"/>
                <a:sym typeface="Noto Sans JP"/>
              </a:rPr>
              <a:t>FK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9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team_id</a:t>
            </a:r>
            <a:r>
              <a:rPr 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(</a:t>
            </a:r>
            <a:r>
              <a:rPr lang="ja-JP" altLang="en-US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部署</a:t>
            </a:r>
            <a:r>
              <a:rPr lang="en-US" altLang="ja-JP" sz="9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ID </a:t>
            </a:r>
            <a:r>
              <a:rPr lang="en-US" altLang="ja-JP" sz="9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endParaRPr dirty="0"/>
          </a:p>
        </p:txBody>
      </p:sp>
      <p:cxnSp>
        <p:nvCxnSpPr>
          <p:cNvPr id="64" name="コネクタ: カギ線 63">
            <a:extLst>
              <a:ext uri="{FF2B5EF4-FFF2-40B4-BE49-F238E27FC236}">
                <a16:creationId xmlns:a16="http://schemas.microsoft.com/office/drawing/2014/main" id="{28F0F486-7111-5F63-5CA8-F3EDA7200A0C}"/>
              </a:ext>
            </a:extLst>
          </p:cNvPr>
          <p:cNvCxnSpPr>
            <a:cxnSpLocks/>
          </p:cNvCxnSpPr>
          <p:nvPr/>
        </p:nvCxnSpPr>
        <p:spPr>
          <a:xfrm rot="10800000">
            <a:off x="2102170" y="2146099"/>
            <a:ext cx="1225867" cy="58879"/>
          </a:xfrm>
          <a:prstGeom prst="bentConnector3">
            <a:avLst>
              <a:gd name="adj1" fmla="val 8025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6BBF86F4-D4DE-7369-615E-20E9D76E377F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57401" y="2418672"/>
            <a:ext cx="1270635" cy="553642"/>
          </a:xfrm>
          <a:prstGeom prst="bentConnector3">
            <a:avLst>
              <a:gd name="adj1" fmla="val 5879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コネクタ: カギ線 70">
            <a:extLst>
              <a:ext uri="{FF2B5EF4-FFF2-40B4-BE49-F238E27FC236}">
                <a16:creationId xmlns:a16="http://schemas.microsoft.com/office/drawing/2014/main" id="{B9E0C8ED-6F13-7263-D2EB-BE34E1FE8C80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17316" y="2632117"/>
            <a:ext cx="1310723" cy="960088"/>
          </a:xfrm>
          <a:prstGeom prst="bentConnector3">
            <a:avLst>
              <a:gd name="adj1" fmla="val 3081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DBF10FD3-F732-ED4A-9669-F915DBB71D46}"/>
              </a:ext>
            </a:extLst>
          </p:cNvPr>
          <p:cNvCxnSpPr>
            <a:cxnSpLocks/>
          </p:cNvCxnSpPr>
          <p:nvPr/>
        </p:nvCxnSpPr>
        <p:spPr>
          <a:xfrm rot="10800000">
            <a:off x="2017316" y="3852572"/>
            <a:ext cx="1279609" cy="53147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コネクタ: カギ線 172">
            <a:extLst>
              <a:ext uri="{FF2B5EF4-FFF2-40B4-BE49-F238E27FC236}">
                <a16:creationId xmlns:a16="http://schemas.microsoft.com/office/drawing/2014/main" id="{90D0D5A6-5990-FA78-FEDA-3F1CE816CBCF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18347" y="3462288"/>
            <a:ext cx="3937165" cy="24954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コネクタ: カギ線 190">
            <a:extLst>
              <a:ext uri="{FF2B5EF4-FFF2-40B4-BE49-F238E27FC236}">
                <a16:creationId xmlns:a16="http://schemas.microsoft.com/office/drawing/2014/main" id="{3389E4C8-06FC-B316-6658-5AB2A2B85DB6}"/>
              </a:ext>
            </a:extLst>
          </p:cNvPr>
          <p:cNvCxnSpPr>
            <a:cxnSpLocks/>
          </p:cNvCxnSpPr>
          <p:nvPr/>
        </p:nvCxnSpPr>
        <p:spPr>
          <a:xfrm rot="10800000">
            <a:off x="5254744" y="2215346"/>
            <a:ext cx="555507" cy="3620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線コネクタ 199">
            <a:extLst>
              <a:ext uri="{FF2B5EF4-FFF2-40B4-BE49-F238E27FC236}">
                <a16:creationId xmlns:a16="http://schemas.microsoft.com/office/drawing/2014/main" id="{E4506D49-3B4D-70E2-4C07-023E520427ED}"/>
              </a:ext>
            </a:extLst>
          </p:cNvPr>
          <p:cNvCxnSpPr>
            <a:cxnSpLocks/>
          </p:cNvCxnSpPr>
          <p:nvPr/>
        </p:nvCxnSpPr>
        <p:spPr>
          <a:xfrm>
            <a:off x="5810251" y="2577438"/>
            <a:ext cx="7144" cy="7219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コネクタ 201">
            <a:extLst>
              <a:ext uri="{FF2B5EF4-FFF2-40B4-BE49-F238E27FC236}">
                <a16:creationId xmlns:a16="http://schemas.microsoft.com/office/drawing/2014/main" id="{E1750BC7-C496-E8B0-08EC-317BE4DFC675}"/>
              </a:ext>
            </a:extLst>
          </p:cNvPr>
          <p:cNvCxnSpPr/>
          <p:nvPr/>
        </p:nvCxnSpPr>
        <p:spPr>
          <a:xfrm>
            <a:off x="5817395" y="3299379"/>
            <a:ext cx="1452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コネクタ: カギ線 204">
            <a:extLst>
              <a:ext uri="{FF2B5EF4-FFF2-40B4-BE49-F238E27FC236}">
                <a16:creationId xmlns:a16="http://schemas.microsoft.com/office/drawing/2014/main" id="{EEC7E604-1217-C4FF-C2AA-991D17DE63CD}"/>
              </a:ext>
            </a:extLst>
          </p:cNvPr>
          <p:cNvCxnSpPr>
            <a:cxnSpLocks/>
            <a:endCxn id="89" idx="1"/>
          </p:cNvCxnSpPr>
          <p:nvPr/>
        </p:nvCxnSpPr>
        <p:spPr>
          <a:xfrm flipV="1">
            <a:off x="7312144" y="2577438"/>
            <a:ext cx="1288931" cy="1026674"/>
          </a:xfrm>
          <a:prstGeom prst="bentConnector3">
            <a:avLst>
              <a:gd name="adj1" fmla="val 819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コネクタ: カギ線 209">
            <a:extLst>
              <a:ext uri="{FF2B5EF4-FFF2-40B4-BE49-F238E27FC236}">
                <a16:creationId xmlns:a16="http://schemas.microsoft.com/office/drawing/2014/main" id="{6107D252-1DE9-7FAE-415A-E74DCD5148F6}"/>
              </a:ext>
            </a:extLst>
          </p:cNvPr>
          <p:cNvCxnSpPr>
            <a:cxnSpLocks/>
          </p:cNvCxnSpPr>
          <p:nvPr/>
        </p:nvCxnSpPr>
        <p:spPr>
          <a:xfrm>
            <a:off x="7472359" y="3756512"/>
            <a:ext cx="1157605" cy="498888"/>
          </a:xfrm>
          <a:prstGeom prst="bentConnector3">
            <a:avLst>
              <a:gd name="adj1" fmla="val 8554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正方形/長方形 212">
            <a:extLst>
              <a:ext uri="{FF2B5EF4-FFF2-40B4-BE49-F238E27FC236}">
                <a16:creationId xmlns:a16="http://schemas.microsoft.com/office/drawing/2014/main" id="{D2B940EC-2856-353F-B59A-8978E28BAB16}"/>
              </a:ext>
            </a:extLst>
          </p:cNvPr>
          <p:cNvSpPr/>
          <p:nvPr/>
        </p:nvSpPr>
        <p:spPr>
          <a:xfrm>
            <a:off x="727587" y="5004619"/>
            <a:ext cx="3342968" cy="15940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4" name="テキスト ボックス 213">
            <a:extLst>
              <a:ext uri="{FF2B5EF4-FFF2-40B4-BE49-F238E27FC236}">
                <a16:creationId xmlns:a16="http://schemas.microsoft.com/office/drawing/2014/main" id="{72EA2663-6BE8-C54D-4CF1-151AECCC51F0}"/>
              </a:ext>
            </a:extLst>
          </p:cNvPr>
          <p:cNvSpPr txBox="1"/>
          <p:nvPr/>
        </p:nvSpPr>
        <p:spPr>
          <a:xfrm>
            <a:off x="798512" y="5122938"/>
            <a:ext cx="2153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凡例</a:t>
            </a:r>
          </a:p>
        </p:txBody>
      </p:sp>
      <p:sp>
        <p:nvSpPr>
          <p:cNvPr id="215" name="Google Shape;119;p13">
            <a:extLst>
              <a:ext uri="{FF2B5EF4-FFF2-40B4-BE49-F238E27FC236}">
                <a16:creationId xmlns:a16="http://schemas.microsoft.com/office/drawing/2014/main" id="{E47A0D9E-EFFD-84EC-58A9-5CDEED667E98}"/>
              </a:ext>
            </a:extLst>
          </p:cNvPr>
          <p:cNvSpPr txBox="1"/>
          <p:nvPr/>
        </p:nvSpPr>
        <p:spPr>
          <a:xfrm>
            <a:off x="923101" y="5489484"/>
            <a:ext cx="269557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F59E0B"/>
                </a:solidFill>
                <a:latin typeface="Noto Sans JP"/>
                <a:ea typeface="Noto Sans JP"/>
                <a:cs typeface="Noto Sans JP"/>
                <a:sym typeface="Noto Sans JP"/>
              </a:rPr>
              <a:t>PK</a:t>
            </a:r>
            <a:r>
              <a:rPr lang="ja-JP" altLang="en-US" sz="1100" b="1" i="0" u="none" strike="noStrike" cap="none" dirty="0">
                <a:solidFill>
                  <a:srgbClr val="F59E0B"/>
                </a:solidFill>
                <a:latin typeface="Noto Sans JP"/>
                <a:ea typeface="Noto Sans JP"/>
                <a:cs typeface="Noto Sans JP"/>
                <a:sym typeface="Noto Sans JP"/>
              </a:rPr>
              <a:t>　</a:t>
            </a:r>
            <a:r>
              <a:rPr lang="ja-JP" altLang="en-US" sz="11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主キー：レコードをユニークとする</a:t>
            </a:r>
            <a:endParaRPr dirty="0"/>
          </a:p>
        </p:txBody>
      </p:sp>
      <p:sp>
        <p:nvSpPr>
          <p:cNvPr id="216" name="Google Shape;133;p13">
            <a:extLst>
              <a:ext uri="{FF2B5EF4-FFF2-40B4-BE49-F238E27FC236}">
                <a16:creationId xmlns:a16="http://schemas.microsoft.com/office/drawing/2014/main" id="{C0EBC4ED-9E8E-4356-47D3-2E6900582BA7}"/>
              </a:ext>
            </a:extLst>
          </p:cNvPr>
          <p:cNvSpPr txBox="1"/>
          <p:nvPr/>
        </p:nvSpPr>
        <p:spPr>
          <a:xfrm>
            <a:off x="931546" y="5743512"/>
            <a:ext cx="269557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1100" b="1" i="0" u="none" strike="noStrike" cap="none" dirty="0">
                <a:solidFill>
                  <a:srgbClr val="3B82F6"/>
                </a:solidFill>
                <a:latin typeface="Noto Sans JP"/>
                <a:ea typeface="Noto Sans JP"/>
                <a:cs typeface="Noto Sans JP"/>
                <a:sym typeface="Noto Sans JP"/>
              </a:rPr>
              <a:t>FK</a:t>
            </a:r>
            <a:r>
              <a:rPr lang="ja-JP" altLang="en-US" sz="1100" b="1" i="0" u="none" strike="noStrike" cap="none" dirty="0">
                <a:solidFill>
                  <a:srgbClr val="3B82F6"/>
                </a:solidFill>
                <a:latin typeface="Noto Sans JP"/>
                <a:ea typeface="Noto Sans JP"/>
                <a:cs typeface="Noto Sans JP"/>
                <a:sym typeface="Noto Sans JP"/>
              </a:rPr>
              <a:t>　</a:t>
            </a:r>
            <a:r>
              <a:rPr lang="ja-JP" altLang="en-US" sz="1100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外部キー：他のテーブルとの結合点</a:t>
            </a:r>
            <a:endParaRPr sz="1100" dirty="0">
              <a:solidFill>
                <a:schemeClr val="tx1"/>
              </a:solidFill>
            </a:endParaRPr>
          </a:p>
        </p:txBody>
      </p:sp>
      <p:sp>
        <p:nvSpPr>
          <p:cNvPr id="221" name="Google Shape;119;p13">
            <a:extLst>
              <a:ext uri="{FF2B5EF4-FFF2-40B4-BE49-F238E27FC236}">
                <a16:creationId xmlns:a16="http://schemas.microsoft.com/office/drawing/2014/main" id="{C10FF39E-4795-0DD2-3ED0-C37ED73CB877}"/>
              </a:ext>
            </a:extLst>
          </p:cNvPr>
          <p:cNvSpPr txBox="1"/>
          <p:nvPr/>
        </p:nvSpPr>
        <p:spPr>
          <a:xfrm>
            <a:off x="923926" y="6012552"/>
            <a:ext cx="250589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100" dirty="0"/>
              <a:t>　　リレーション：データの参照関係</a:t>
            </a:r>
            <a:endParaRPr sz="1100" dirty="0"/>
          </a:p>
        </p:txBody>
      </p:sp>
      <p:cxnSp>
        <p:nvCxnSpPr>
          <p:cNvPr id="223" name="直線コネクタ 222">
            <a:extLst>
              <a:ext uri="{FF2B5EF4-FFF2-40B4-BE49-F238E27FC236}">
                <a16:creationId xmlns:a16="http://schemas.microsoft.com/office/drawing/2014/main" id="{EE39E29B-361D-B44B-2C88-494B33908A48}"/>
              </a:ext>
            </a:extLst>
          </p:cNvPr>
          <p:cNvCxnSpPr>
            <a:cxnSpLocks/>
            <a:stCxn id="221" idx="1"/>
          </p:cNvCxnSpPr>
          <p:nvPr/>
        </p:nvCxnSpPr>
        <p:spPr>
          <a:xfrm>
            <a:off x="923926" y="6097191"/>
            <a:ext cx="2114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Google Shape;92;p13">
            <a:extLst>
              <a:ext uri="{FF2B5EF4-FFF2-40B4-BE49-F238E27FC236}">
                <a16:creationId xmlns:a16="http://schemas.microsoft.com/office/drawing/2014/main" id="{D15780CF-2CC0-C53B-6A6E-F315546F1FB1}"/>
              </a:ext>
            </a:extLst>
          </p:cNvPr>
          <p:cNvSpPr txBox="1"/>
          <p:nvPr/>
        </p:nvSpPr>
        <p:spPr>
          <a:xfrm>
            <a:off x="4603700" y="5019675"/>
            <a:ext cx="736763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設計の要諦</a:t>
            </a:r>
            <a:endParaRPr dirty="0"/>
          </a:p>
        </p:txBody>
      </p:sp>
      <p:sp>
        <p:nvSpPr>
          <p:cNvPr id="227" name="Google Shape;96;p13">
            <a:extLst>
              <a:ext uri="{FF2B5EF4-FFF2-40B4-BE49-F238E27FC236}">
                <a16:creationId xmlns:a16="http://schemas.microsoft.com/office/drawing/2014/main" id="{84365581-3D2F-DED6-FA35-FBFC88F8335D}"/>
              </a:ext>
            </a:extLst>
          </p:cNvPr>
          <p:cNvSpPr txBox="1"/>
          <p:nvPr/>
        </p:nvSpPr>
        <p:spPr>
          <a:xfrm>
            <a:off x="4698950" y="5438775"/>
            <a:ext cx="692154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データの整合性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：全てのトランザクション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(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TB_matter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)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は、正規化されたマスタ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(ID, Team, Status)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を参照し、不整合を防止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  <a:endParaRPr dirty="0"/>
          </a:p>
        </p:txBody>
      </p:sp>
      <p:sp>
        <p:nvSpPr>
          <p:cNvPr id="228" name="Google Shape;98;p13">
            <a:extLst>
              <a:ext uri="{FF2B5EF4-FFF2-40B4-BE49-F238E27FC236}">
                <a16:creationId xmlns:a16="http://schemas.microsoft.com/office/drawing/2014/main" id="{C6495E6E-333F-3718-C08C-E0BD189B5A5F}"/>
              </a:ext>
            </a:extLst>
          </p:cNvPr>
          <p:cNvSpPr txBox="1"/>
          <p:nvPr/>
        </p:nvSpPr>
        <p:spPr>
          <a:xfrm>
            <a:off x="4698950" y="5895975"/>
            <a:ext cx="6921549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予算統制ロジック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：TB_budget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に年度・部署別の予算枠を保持し、申請額の集計結果とリアルタイムで照合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  <a:endParaRPr dirty="0"/>
          </a:p>
        </p:txBody>
      </p:sp>
      <p:sp>
        <p:nvSpPr>
          <p:cNvPr id="229" name="Google Shape;100;p13">
            <a:extLst>
              <a:ext uri="{FF2B5EF4-FFF2-40B4-BE49-F238E27FC236}">
                <a16:creationId xmlns:a16="http://schemas.microsoft.com/office/drawing/2014/main" id="{1F8F49E4-8ED6-E78C-3815-4E71CD7BD2D3}"/>
              </a:ext>
            </a:extLst>
          </p:cNvPr>
          <p:cNvSpPr txBox="1"/>
          <p:nvPr/>
        </p:nvSpPr>
        <p:spPr>
          <a:xfrm>
            <a:off x="4698950" y="6162675"/>
            <a:ext cx="6921549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物理削除の回避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：is_hidden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カラムによる論理削除を採用し、運用の安全性と監査性を両立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571500" y="1085850"/>
            <a:ext cx="1160145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TB_staff（社員</a:t>
            </a:r>
            <a:r>
              <a:rPr lang="en-US" sz="1404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）</a:t>
            </a:r>
            <a:endParaRPr dirty="0"/>
          </a:p>
        </p:txBody>
      </p:sp>
      <p:graphicFrame>
        <p:nvGraphicFramePr>
          <p:cNvPr id="127" name="Google Shape;127;p17"/>
          <p:cNvGraphicFramePr/>
          <p:nvPr/>
        </p:nvGraphicFramePr>
        <p:xfrm>
          <a:off x="571500" y="1333500"/>
          <a:ext cx="11039450" cy="1548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物理名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制約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説明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staff_id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社員番号（主キー）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staff_name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氏名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is_active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在職フラグ（1:在職, 0:離職）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8" name="Google Shape;128;p17"/>
          <p:cNvSpPr txBox="1"/>
          <p:nvPr/>
        </p:nvSpPr>
        <p:spPr>
          <a:xfrm>
            <a:off x="571500" y="3072407"/>
            <a:ext cx="1160145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TB_post（役職</a:t>
            </a:r>
            <a:r>
              <a:rPr lang="en-US" sz="1404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）</a:t>
            </a:r>
            <a:endParaRPr dirty="0"/>
          </a:p>
        </p:txBody>
      </p:sp>
      <p:graphicFrame>
        <p:nvGraphicFramePr>
          <p:cNvPr id="129" name="Google Shape;129;p17"/>
          <p:cNvGraphicFramePr/>
          <p:nvPr/>
        </p:nvGraphicFramePr>
        <p:xfrm>
          <a:off x="571500" y="3320057"/>
          <a:ext cx="11039450" cy="11732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物理名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制約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説明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post_id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役職ID（1:課長, 2:一般...）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post_name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役職名（課長、社員等）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0" name="Google Shape;130;p17"/>
          <p:cNvSpPr txBox="1"/>
          <p:nvPr/>
        </p:nvSpPr>
        <p:spPr>
          <a:xfrm>
            <a:off x="762000" y="381000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1. </a:t>
            </a:r>
            <a:r>
              <a:rPr lang="en-US" sz="2700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社員・役職マスタ</a:t>
            </a:r>
            <a:endParaRPr dirty="0"/>
          </a:p>
        </p:txBody>
      </p:sp>
      <p:sp>
        <p:nvSpPr>
          <p:cNvPr id="131" name="Google Shape;131;p17"/>
          <p:cNvSpPr/>
          <p:nvPr/>
        </p:nvSpPr>
        <p:spPr>
          <a:xfrm>
            <a:off x="571500" y="381000"/>
            <a:ext cx="952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5;p13">
            <a:extLst>
              <a:ext uri="{FF2B5EF4-FFF2-40B4-BE49-F238E27FC236}">
                <a16:creationId xmlns:a16="http://schemas.microsoft.com/office/drawing/2014/main" id="{81D94E97-8BEB-D67C-3841-0B1D1DE2B8C1}"/>
              </a:ext>
            </a:extLst>
          </p:cNvPr>
          <p:cNvSpPr txBox="1"/>
          <p:nvPr/>
        </p:nvSpPr>
        <p:spPr>
          <a:xfrm>
            <a:off x="2074607" y="2579340"/>
            <a:ext cx="734469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48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テーブル詳細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8329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571500" y="1085850"/>
            <a:ext cx="1160145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TB_staff（社員</a:t>
            </a:r>
            <a:r>
              <a:rPr lang="en-US" sz="1404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）</a:t>
            </a:r>
            <a:endParaRPr dirty="0"/>
          </a:p>
        </p:txBody>
      </p:sp>
      <p:graphicFrame>
        <p:nvGraphicFramePr>
          <p:cNvPr id="127" name="Google Shape;127;p17"/>
          <p:cNvGraphicFramePr/>
          <p:nvPr>
            <p:extLst>
              <p:ext uri="{D42A27DB-BD31-4B8C-83A1-F6EECF244321}">
                <p14:modId xmlns:p14="http://schemas.microsoft.com/office/powerpoint/2010/main" val="2907245781"/>
              </p:ext>
            </p:extLst>
          </p:nvPr>
        </p:nvGraphicFramePr>
        <p:xfrm>
          <a:off x="571500" y="1333500"/>
          <a:ext cx="11039450" cy="1548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物理名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制約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説明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staff_id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社員番号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staff_name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氏名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is_active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在職フラグ（1:在職, 0: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退職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）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8" name="Google Shape;128;p17"/>
          <p:cNvSpPr txBox="1"/>
          <p:nvPr/>
        </p:nvSpPr>
        <p:spPr>
          <a:xfrm>
            <a:off x="571500" y="3072407"/>
            <a:ext cx="1160145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TB_post（役職</a:t>
            </a:r>
            <a:r>
              <a:rPr lang="en-US" sz="1404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）</a:t>
            </a:r>
            <a:endParaRPr dirty="0"/>
          </a:p>
        </p:txBody>
      </p:sp>
      <p:graphicFrame>
        <p:nvGraphicFramePr>
          <p:cNvPr id="129" name="Google Shape;129;p17"/>
          <p:cNvGraphicFramePr/>
          <p:nvPr>
            <p:extLst>
              <p:ext uri="{D42A27DB-BD31-4B8C-83A1-F6EECF244321}">
                <p14:modId xmlns:p14="http://schemas.microsoft.com/office/powerpoint/2010/main" val="2125875271"/>
              </p:ext>
            </p:extLst>
          </p:nvPr>
        </p:nvGraphicFramePr>
        <p:xfrm>
          <a:off x="571500" y="3320057"/>
          <a:ext cx="11039450" cy="11732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物理名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型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制約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説明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post_id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役職ID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（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課長</a:t>
                      </a:r>
                      <a:r>
                        <a:rPr lang="en-US" altLang="ja-JP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=1,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一般</a:t>
                      </a:r>
                      <a:r>
                        <a:rPr lang="en-US" altLang="ja-JP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=2,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本部課長</a:t>
                      </a:r>
                      <a:r>
                        <a:rPr lang="en-US" altLang="ja-JP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=4,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情シス</a:t>
                      </a:r>
                      <a:r>
                        <a:rPr lang="en-US" altLang="ja-JP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=999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）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post_name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役職名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（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課長</a:t>
                      </a:r>
                      <a:r>
                        <a:rPr lang="en-US" altLang="ja-JP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,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一般</a:t>
                      </a:r>
                      <a:r>
                        <a:rPr lang="en-US" altLang="ja-JP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,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本部課長</a:t>
                      </a:r>
                      <a:r>
                        <a:rPr lang="en-US" altLang="ja-JP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,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情シス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）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0" name="Google Shape;130;p17"/>
          <p:cNvSpPr txBox="1"/>
          <p:nvPr/>
        </p:nvSpPr>
        <p:spPr>
          <a:xfrm>
            <a:off x="762000" y="381000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1. </a:t>
            </a:r>
            <a:r>
              <a:rPr lang="en-US" sz="2700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社員・役職マスタ</a:t>
            </a:r>
            <a:endParaRPr dirty="0"/>
          </a:p>
        </p:txBody>
      </p:sp>
      <p:sp>
        <p:nvSpPr>
          <p:cNvPr id="131" name="Google Shape;131;p17"/>
          <p:cNvSpPr/>
          <p:nvPr/>
        </p:nvSpPr>
        <p:spPr>
          <a:xfrm>
            <a:off x="571500" y="381000"/>
            <a:ext cx="952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571500" y="1085850"/>
            <a:ext cx="1160145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TB_team（部署</a:t>
            </a:r>
            <a:r>
              <a:rPr lang="en-US" sz="1404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）</a:t>
            </a:r>
            <a:endParaRPr dirty="0"/>
          </a:p>
        </p:txBody>
      </p:sp>
      <p:graphicFrame>
        <p:nvGraphicFramePr>
          <p:cNvPr id="138" name="Google Shape;138;p18"/>
          <p:cNvGraphicFramePr/>
          <p:nvPr>
            <p:extLst>
              <p:ext uri="{D42A27DB-BD31-4B8C-83A1-F6EECF244321}">
                <p14:modId xmlns:p14="http://schemas.microsoft.com/office/powerpoint/2010/main" val="3494274426"/>
              </p:ext>
            </p:extLst>
          </p:nvPr>
        </p:nvGraphicFramePr>
        <p:xfrm>
          <a:off x="571500" y="1333500"/>
          <a:ext cx="11039450" cy="11732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物理名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型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制約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説明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team_id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部署ID（1～3:各部門, 4:本部）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team_name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所属部署名</a:t>
                      </a:r>
                      <a:r>
                        <a:rPr lang="en-US" altLang="ja-JP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（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開発一部</a:t>
                      </a:r>
                      <a:r>
                        <a:rPr lang="en-US" altLang="ja-JP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,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開発二部</a:t>
                      </a:r>
                      <a:r>
                        <a:rPr lang="en-US" altLang="ja-JP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,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開発三部</a:t>
                      </a:r>
                      <a:r>
                        <a:rPr lang="en-US" altLang="ja-JP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,</a:t>
                      </a:r>
                      <a:r>
                        <a:rPr lang="en-US" altLang="ja-JP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本部</a:t>
                      </a:r>
                      <a:r>
                        <a:rPr lang="en-US" altLang="ja-JP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）</a:t>
                      </a:r>
                      <a:endParaRPr sz="12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9" name="Google Shape;139;p18"/>
          <p:cNvSpPr txBox="1"/>
          <p:nvPr/>
        </p:nvSpPr>
        <p:spPr>
          <a:xfrm>
            <a:off x="571500" y="2697212"/>
            <a:ext cx="1160145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TB_ID（ログイン情報</a:t>
            </a:r>
            <a:r>
              <a:rPr lang="en-US" sz="1404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）</a:t>
            </a:r>
            <a:endParaRPr dirty="0"/>
          </a:p>
        </p:txBody>
      </p:sp>
      <p:graphicFrame>
        <p:nvGraphicFramePr>
          <p:cNvPr id="140" name="Google Shape;140;p18"/>
          <p:cNvGraphicFramePr/>
          <p:nvPr>
            <p:extLst>
              <p:ext uri="{D42A27DB-BD31-4B8C-83A1-F6EECF244321}">
                <p14:modId xmlns:p14="http://schemas.microsoft.com/office/powerpoint/2010/main" val="4103622940"/>
              </p:ext>
            </p:extLst>
          </p:nvPr>
        </p:nvGraphicFramePr>
        <p:xfrm>
          <a:off x="571500" y="2944862"/>
          <a:ext cx="11039450" cy="23083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物理名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型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制約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説明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user_id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ログイン用ユーザーID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password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パスワード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staff_id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FK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社員番号（TB_staff参照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）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team_id</a:t>
                      </a:r>
                      <a:endParaRPr lang="en-US" sz="1200" b="1" i="0" u="none" strike="noStrike" cap="none" dirty="0">
                        <a:solidFill>
                          <a:srgbClr val="334155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FK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部署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ID（TB_team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参照）</a:t>
                      </a:r>
                      <a:endParaRPr lang="ja-JP" altLang="en-US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post_id</a:t>
                      </a:r>
                      <a:endParaRPr lang="en-US" sz="1200" b="1" i="0" u="none" strike="noStrike" cap="none" dirty="0">
                        <a:solidFill>
                          <a:srgbClr val="334155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FK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役職</a:t>
                      </a:r>
                      <a:r>
                        <a:rPr lang="en-US" altLang="ja-JP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ID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（TB_post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参照）</a:t>
                      </a:r>
                      <a:endParaRPr lang="ja-JP" altLang="en-US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954626"/>
                  </a:ext>
                </a:extLst>
              </a:tr>
            </a:tbl>
          </a:graphicData>
        </a:graphic>
      </p:graphicFrame>
      <p:sp>
        <p:nvSpPr>
          <p:cNvPr id="141" name="Google Shape;141;p18"/>
          <p:cNvSpPr txBox="1"/>
          <p:nvPr/>
        </p:nvSpPr>
        <p:spPr>
          <a:xfrm>
            <a:off x="762000" y="381000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2. </a:t>
            </a:r>
            <a:r>
              <a:rPr lang="en-US" sz="2700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部署・認証マスタ</a:t>
            </a:r>
            <a:endParaRPr dirty="0"/>
          </a:p>
        </p:txBody>
      </p:sp>
      <p:sp>
        <p:nvSpPr>
          <p:cNvPr id="142" name="Google Shape;142;p18"/>
          <p:cNvSpPr/>
          <p:nvPr/>
        </p:nvSpPr>
        <p:spPr>
          <a:xfrm>
            <a:off x="571500" y="381000"/>
            <a:ext cx="952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571500" y="1085850"/>
            <a:ext cx="1160145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TB_category（案件カテゴリ</a:t>
            </a:r>
            <a:r>
              <a:rPr lang="en-US" sz="1404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）</a:t>
            </a:r>
            <a:endParaRPr dirty="0"/>
          </a:p>
        </p:txBody>
      </p:sp>
      <p:graphicFrame>
        <p:nvGraphicFramePr>
          <p:cNvPr id="149" name="Google Shape;149;p19"/>
          <p:cNvGraphicFramePr/>
          <p:nvPr>
            <p:extLst>
              <p:ext uri="{D42A27DB-BD31-4B8C-83A1-F6EECF244321}">
                <p14:modId xmlns:p14="http://schemas.microsoft.com/office/powerpoint/2010/main" val="606158931"/>
              </p:ext>
            </p:extLst>
          </p:nvPr>
        </p:nvGraphicFramePr>
        <p:xfrm>
          <a:off x="571500" y="1333500"/>
          <a:ext cx="11039450" cy="11732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物理名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制約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説明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category_id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カテゴリID（1:新規, 2:保守, 3: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改修</a:t>
                      </a:r>
                      <a:r>
                        <a:rPr lang="en-US" altLang="ja-JP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,4: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スポット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）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category_content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内容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0" name="Google Shape;150;p19"/>
          <p:cNvSpPr txBox="1"/>
          <p:nvPr/>
        </p:nvSpPr>
        <p:spPr>
          <a:xfrm>
            <a:off x="571500" y="2697212"/>
            <a:ext cx="1160145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TB_status（ステータス</a:t>
            </a:r>
            <a:r>
              <a:rPr lang="en-US" sz="1404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）</a:t>
            </a:r>
            <a:endParaRPr dirty="0"/>
          </a:p>
        </p:txBody>
      </p:sp>
      <p:graphicFrame>
        <p:nvGraphicFramePr>
          <p:cNvPr id="151" name="Google Shape;151;p19"/>
          <p:cNvGraphicFramePr/>
          <p:nvPr>
            <p:extLst>
              <p:ext uri="{D42A27DB-BD31-4B8C-83A1-F6EECF244321}">
                <p14:modId xmlns:p14="http://schemas.microsoft.com/office/powerpoint/2010/main" val="3470574735"/>
              </p:ext>
            </p:extLst>
          </p:nvPr>
        </p:nvGraphicFramePr>
        <p:xfrm>
          <a:off x="571500" y="2944862"/>
          <a:ext cx="11039450" cy="11732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物理名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制約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説明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status_id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ステータスID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（次ページ参照）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status_content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内容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2" name="Google Shape;152;p19"/>
          <p:cNvSpPr txBox="1"/>
          <p:nvPr/>
        </p:nvSpPr>
        <p:spPr>
          <a:xfrm>
            <a:off x="762000" y="381000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3. </a:t>
            </a:r>
            <a:r>
              <a:rPr lang="en-US" sz="2700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区分・ステータスマスタ</a:t>
            </a:r>
            <a:endParaRPr dirty="0"/>
          </a:p>
        </p:txBody>
      </p:sp>
      <p:sp>
        <p:nvSpPr>
          <p:cNvPr id="153" name="Google Shape;153;p19"/>
          <p:cNvSpPr/>
          <p:nvPr/>
        </p:nvSpPr>
        <p:spPr>
          <a:xfrm>
            <a:off x="571500" y="381000"/>
            <a:ext cx="952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EECCBDC6-F1B1-B430-97BC-2501DCBE2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167578"/>
              </p:ext>
            </p:extLst>
          </p:nvPr>
        </p:nvGraphicFramePr>
        <p:xfrm>
          <a:off x="571500" y="1112360"/>
          <a:ext cx="10866119" cy="4465480"/>
        </p:xfrm>
        <a:graphic>
          <a:graphicData uri="http://schemas.openxmlformats.org/drawingml/2006/table">
            <a:tbl>
              <a:tblPr/>
              <a:tblGrid>
                <a:gridCol w="738896">
                  <a:extLst>
                    <a:ext uri="{9D8B030D-6E8A-4147-A177-3AD203B41FA5}">
                      <a16:colId xmlns:a16="http://schemas.microsoft.com/office/drawing/2014/main" val="4126074169"/>
                    </a:ext>
                  </a:extLst>
                </a:gridCol>
                <a:gridCol w="1564721">
                  <a:extLst>
                    <a:ext uri="{9D8B030D-6E8A-4147-A177-3AD203B41FA5}">
                      <a16:colId xmlns:a16="http://schemas.microsoft.com/office/drawing/2014/main" val="3123153602"/>
                    </a:ext>
                  </a:extLst>
                </a:gridCol>
                <a:gridCol w="5259202">
                  <a:extLst>
                    <a:ext uri="{9D8B030D-6E8A-4147-A177-3AD203B41FA5}">
                      <a16:colId xmlns:a16="http://schemas.microsoft.com/office/drawing/2014/main" val="3189692430"/>
                    </a:ext>
                  </a:extLst>
                </a:gridCol>
                <a:gridCol w="3303300">
                  <a:extLst>
                    <a:ext uri="{9D8B030D-6E8A-4147-A177-3AD203B41FA5}">
                      <a16:colId xmlns:a16="http://schemas.microsoft.com/office/drawing/2014/main" val="2946622054"/>
                    </a:ext>
                  </a:extLst>
                </a:gridCol>
              </a:tblGrid>
              <a:tr h="558185">
                <a:tc>
                  <a:txBody>
                    <a:bodyPr/>
                    <a:lstStyle/>
                    <a:p>
                      <a:r>
                        <a:rPr lang="ja-JP" altLang="en-US" b="1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順番</a:t>
                      </a:r>
                      <a:endParaRPr lang="ja-JP" altLang="en-US" dirty="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b="1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ステータス名</a:t>
                      </a:r>
                      <a:endParaRPr lang="ja-JP" altLang="en-US" dirty="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b="1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内容・状態</a:t>
                      </a:r>
                      <a:endParaRPr lang="ja-JP" altLang="en-US" dirty="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編集権限（担当）</a:t>
                      </a:r>
                      <a:endParaRPr lang="zh-CN" altLang="en-US" dirty="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028475"/>
                  </a:ext>
                </a:extLst>
              </a:tr>
              <a:tr h="558185">
                <a:tc>
                  <a:txBody>
                    <a:bodyPr/>
                    <a:lstStyle/>
                    <a:p>
                      <a:r>
                        <a:rPr lang="en-US" altLang="ja-JP" b="1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1</a:t>
                      </a:r>
                      <a:endParaRPr lang="ja-JP" altLang="en-US" dirty="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一時保存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下書き中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可（すべて）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950169"/>
                  </a:ext>
                </a:extLst>
              </a:tr>
              <a:tr h="558185">
                <a:tc>
                  <a:txBody>
                    <a:bodyPr/>
                    <a:lstStyle/>
                    <a:p>
                      <a:r>
                        <a:rPr lang="en-US" altLang="ja-JP" b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2</a:t>
                      </a:r>
                      <a:endParaRPr lang="ja-JP" altLang="en-US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差し戻し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内容にミスがあり戻された状態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可（すべて）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328615"/>
                  </a:ext>
                </a:extLst>
              </a:tr>
              <a:tr h="558185">
                <a:tc>
                  <a:txBody>
                    <a:bodyPr/>
                    <a:lstStyle/>
                    <a:p>
                      <a:r>
                        <a:rPr lang="en-US" altLang="ja-JP" b="1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3</a:t>
                      </a:r>
                      <a:endParaRPr lang="ja-JP" altLang="en-US" dirty="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課長承認待ち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上司の確認を待っている状態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不可（</a:t>
                      </a:r>
                      <a:r>
                        <a:rPr lang="en-US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Read Only）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995514"/>
                  </a:ext>
                </a:extLst>
              </a:tr>
              <a:tr h="558185">
                <a:tc>
                  <a:txBody>
                    <a:bodyPr/>
                    <a:lstStyle/>
                    <a:p>
                      <a:r>
                        <a:rPr lang="en-US" altLang="ja-JP" b="1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4</a:t>
                      </a:r>
                      <a:endParaRPr lang="ja-JP" altLang="en-US" dirty="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本部確認待ち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上司は</a:t>
                      </a:r>
                      <a:r>
                        <a:rPr lang="en-US" altLang="ja-JP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OK</a:t>
                      </a:r>
                      <a:r>
                        <a:rPr lang="ja-JP" altLang="en-US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。本部の最終チェック中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不可（</a:t>
                      </a:r>
                      <a:r>
                        <a:rPr lang="en-US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Read Only）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569602"/>
                  </a:ext>
                </a:extLst>
              </a:tr>
              <a:tr h="558185">
                <a:tc>
                  <a:txBody>
                    <a:bodyPr/>
                    <a:lstStyle/>
                    <a:p>
                      <a:r>
                        <a:rPr lang="en-US" altLang="ja-JP" b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5</a:t>
                      </a:r>
                      <a:endParaRPr lang="ja-JP" altLang="en-US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承認済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内容が認められ、予算が確定した状態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一部可（実績</a:t>
                      </a:r>
                      <a:r>
                        <a:rPr lang="en-US" altLang="ja-JP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/</a:t>
                      </a:r>
                      <a:r>
                        <a:rPr lang="ja-JP" altLang="en-US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進捗</a:t>
                      </a:r>
                      <a:r>
                        <a:rPr lang="en-US" altLang="ja-JP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/</a:t>
                      </a:r>
                      <a:r>
                        <a:rPr lang="ja-JP" altLang="en-US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報告のみ）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15615"/>
                  </a:ext>
                </a:extLst>
              </a:tr>
              <a:tr h="558185">
                <a:tc>
                  <a:txBody>
                    <a:bodyPr/>
                    <a:lstStyle/>
                    <a:p>
                      <a:r>
                        <a:rPr lang="en-US" altLang="ja-JP" b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6</a:t>
                      </a:r>
                      <a:endParaRPr lang="ja-JP" altLang="en-US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完了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開発・報告がすべて終わった最終状態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不可（</a:t>
                      </a:r>
                      <a:r>
                        <a:rPr lang="en-US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Read Only）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869908"/>
                  </a:ext>
                </a:extLst>
              </a:tr>
              <a:tr h="558185">
                <a:tc>
                  <a:txBody>
                    <a:bodyPr/>
                    <a:lstStyle/>
                    <a:p>
                      <a:r>
                        <a:rPr lang="en-US" altLang="ja-JP" b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7</a:t>
                      </a:r>
                      <a:endParaRPr lang="ja-JP" altLang="en-US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却下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内容不備などでボツになった状態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不可（</a:t>
                      </a:r>
                      <a:r>
                        <a:rPr lang="en-US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Read Only）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123480"/>
                  </a:ext>
                </a:extLst>
              </a:tr>
            </a:tbl>
          </a:graphicData>
        </a:graphic>
      </p:graphicFrame>
      <p:sp>
        <p:nvSpPr>
          <p:cNvPr id="4" name="Google Shape;152;p19">
            <a:extLst>
              <a:ext uri="{FF2B5EF4-FFF2-40B4-BE49-F238E27FC236}">
                <a16:creationId xmlns:a16="http://schemas.microsoft.com/office/drawing/2014/main" id="{B7325111-19CE-7F46-3F41-4CB48FBC41FA}"/>
              </a:ext>
            </a:extLst>
          </p:cNvPr>
          <p:cNvSpPr txBox="1"/>
          <p:nvPr/>
        </p:nvSpPr>
        <p:spPr>
          <a:xfrm>
            <a:off x="762000" y="381000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27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※</a:t>
            </a:r>
            <a:r>
              <a:rPr lang="en-US" sz="2700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ステータス</a:t>
            </a:r>
            <a:r>
              <a:rPr lang="ja-JP" altLang="en-US" sz="27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詳細</a:t>
            </a:r>
            <a:endParaRPr dirty="0"/>
          </a:p>
        </p:txBody>
      </p:sp>
      <p:sp>
        <p:nvSpPr>
          <p:cNvPr id="5" name="Google Shape;153;p19">
            <a:extLst>
              <a:ext uri="{FF2B5EF4-FFF2-40B4-BE49-F238E27FC236}">
                <a16:creationId xmlns:a16="http://schemas.microsoft.com/office/drawing/2014/main" id="{002E80E7-A208-C58B-F24D-5E78BFEB9BF3}"/>
              </a:ext>
            </a:extLst>
          </p:cNvPr>
          <p:cNvSpPr/>
          <p:nvPr/>
        </p:nvSpPr>
        <p:spPr>
          <a:xfrm>
            <a:off x="571500" y="381000"/>
            <a:ext cx="952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786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571500" y="1085850"/>
            <a:ext cx="1160145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TB_budget_item（予算項目</a:t>
            </a:r>
            <a:r>
              <a:rPr lang="en-US" sz="1404" i="0" u="none" strike="noStrike" cap="none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）</a:t>
            </a:r>
            <a:r>
              <a:rPr lang="en-US" altLang="ja-JP" sz="1404" i="0" u="none" strike="noStrike" cap="none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※</a:t>
            </a:r>
            <a:r>
              <a:rPr lang="ja-JP" altLang="en-US" sz="1404" i="0" u="none" strike="noStrike" cap="none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現在、予算は部署ごとで項目別はないため使用していない</a:t>
            </a:r>
            <a:endParaRPr dirty="0">
              <a:solidFill>
                <a:srgbClr val="C00000"/>
              </a:solidFill>
            </a:endParaRPr>
          </a:p>
        </p:txBody>
      </p:sp>
      <p:graphicFrame>
        <p:nvGraphicFramePr>
          <p:cNvPr id="160" name="Google Shape;160;p20"/>
          <p:cNvGraphicFramePr/>
          <p:nvPr>
            <p:extLst>
              <p:ext uri="{D42A27DB-BD31-4B8C-83A1-F6EECF244321}">
                <p14:modId xmlns:p14="http://schemas.microsoft.com/office/powerpoint/2010/main" val="3394188913"/>
              </p:ext>
            </p:extLst>
          </p:nvPr>
        </p:nvGraphicFramePr>
        <p:xfrm>
          <a:off x="571500" y="1333500"/>
          <a:ext cx="11039450" cy="11732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物理名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制約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説明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item_id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PK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予算項目ID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item_name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TEXT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-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項目名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1" name="Google Shape;161;p20"/>
          <p:cNvSpPr txBox="1"/>
          <p:nvPr/>
        </p:nvSpPr>
        <p:spPr>
          <a:xfrm>
            <a:off x="571500" y="2697212"/>
            <a:ext cx="1160145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TB_budget（予算</a:t>
            </a:r>
            <a:r>
              <a:rPr lang="en-US" sz="1404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）</a:t>
            </a:r>
            <a:endParaRPr dirty="0"/>
          </a:p>
        </p:txBody>
      </p:sp>
      <p:graphicFrame>
        <p:nvGraphicFramePr>
          <p:cNvPr id="162" name="Google Shape;162;p20"/>
          <p:cNvGraphicFramePr/>
          <p:nvPr>
            <p:extLst>
              <p:ext uri="{D42A27DB-BD31-4B8C-83A1-F6EECF244321}">
                <p14:modId xmlns:p14="http://schemas.microsoft.com/office/powerpoint/2010/main" val="1267151037"/>
              </p:ext>
            </p:extLst>
          </p:nvPr>
        </p:nvGraphicFramePr>
        <p:xfrm>
          <a:off x="571500" y="2944862"/>
          <a:ext cx="11039450" cy="23083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物理名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制約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説明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budget_id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PK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予算管理ID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fiscal_year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年度（2026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で固定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）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team_id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FK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部署ID</a:t>
                      </a:r>
                      <a:r>
                        <a:rPr lang="en-US" altLang="ja-JP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（TB_team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参照）</a:t>
                      </a:r>
                      <a:endParaRPr sz="12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item_id</a:t>
                      </a:r>
                      <a:endParaRPr sz="1200" b="1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</a:t>
                      </a:r>
                      <a:r>
                        <a:rPr 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NT</a:t>
                      </a: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PK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予算項目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ID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　</a:t>
                      </a:r>
                      <a:r>
                        <a:rPr lang="en-US" altLang="ja-JP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※</a:t>
                      </a:r>
                      <a:r>
                        <a:rPr lang="ja-JP" alt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未使用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235153"/>
                  </a:ext>
                </a:extLst>
              </a:tr>
              <a:tr h="38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total_budget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-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予算総額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762000" y="381000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4. </a:t>
            </a:r>
            <a:r>
              <a:rPr lang="en-US" sz="2700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予算・予算項目管理</a:t>
            </a:r>
            <a:endParaRPr dirty="0"/>
          </a:p>
        </p:txBody>
      </p:sp>
      <p:sp>
        <p:nvSpPr>
          <p:cNvPr id="164" name="Google Shape;164;p20"/>
          <p:cNvSpPr/>
          <p:nvPr/>
        </p:nvSpPr>
        <p:spPr>
          <a:xfrm>
            <a:off x="571500" y="381000"/>
            <a:ext cx="952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/>
        </p:nvSpPr>
        <p:spPr>
          <a:xfrm>
            <a:off x="571500" y="1085850"/>
            <a:ext cx="1160145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TB_matter（案件基本情報</a:t>
            </a:r>
            <a:r>
              <a:rPr lang="en-US" sz="1404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）</a:t>
            </a:r>
            <a:endParaRPr dirty="0"/>
          </a:p>
        </p:txBody>
      </p:sp>
      <p:graphicFrame>
        <p:nvGraphicFramePr>
          <p:cNvPr id="171" name="Google Shape;171;p21"/>
          <p:cNvGraphicFramePr/>
          <p:nvPr>
            <p:extLst>
              <p:ext uri="{D42A27DB-BD31-4B8C-83A1-F6EECF244321}">
                <p14:modId xmlns:p14="http://schemas.microsoft.com/office/powerpoint/2010/main" val="520946937"/>
              </p:ext>
            </p:extLst>
          </p:nvPr>
        </p:nvGraphicFramePr>
        <p:xfrm>
          <a:off x="571500" y="1333500"/>
          <a:ext cx="11041050" cy="34303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150">
                <a:tc>
                  <a:txBody>
                    <a:bodyPr/>
                    <a:lstStyle/>
                    <a:p>
                      <a:r>
                        <a:rPr lang="ja-JP" altLang="en-US" sz="1200" b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物理名</a:t>
                      </a:r>
                      <a:endParaRPr lang="ja-JP" altLang="en-US" sz="120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b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型</a:t>
                      </a:r>
                      <a:endParaRPr lang="ja-JP" altLang="en-US" sz="120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b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制約</a:t>
                      </a:r>
                      <a:endParaRPr lang="ja-JP" altLang="en-US" sz="120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b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説明</a:t>
                      </a:r>
                      <a:endParaRPr lang="ja-JP" altLang="en-US" sz="120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matter_id</a:t>
                      </a:r>
                      <a:endParaRPr lang="en-US" sz="120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TEXT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PK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案件番号（</a:t>
                      </a:r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2026-</a:t>
                      </a:r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D</a:t>
                      </a:r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部署</a:t>
                      </a:r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連番）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 dirty="0" err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fiscal_year</a:t>
                      </a:r>
                      <a:endParaRPr lang="en-US" sz="1200" b="0" dirty="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INT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年度（</a:t>
                      </a:r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2026</a:t>
                      </a:r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固定）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 dirty="0" err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matter_title</a:t>
                      </a:r>
                      <a:endParaRPr lang="en-US" sz="1200" b="0" dirty="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TEXT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案件タイトル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team_id</a:t>
                      </a:r>
                      <a:endParaRPr lang="en-US" sz="1200" dirty="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INT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FK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部署</a:t>
                      </a:r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ID（TB_team</a:t>
                      </a:r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参照）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user_id</a:t>
                      </a:r>
                      <a:endParaRPr lang="en-US" sz="1200" dirty="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TEXT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FK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担当者ユーザー</a:t>
                      </a:r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ID</a:t>
                      </a:r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（</a:t>
                      </a:r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TB_ID</a:t>
                      </a:r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参照）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purpose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TEXT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目的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summary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TEXT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概要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38177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detail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TEXT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詳細内容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200049"/>
                  </a:ext>
                </a:extLst>
              </a:tr>
            </a:tbl>
          </a:graphicData>
        </a:graphic>
      </p:graphicFrame>
      <p:sp>
        <p:nvSpPr>
          <p:cNvPr id="172" name="Google Shape;172;p21"/>
          <p:cNvSpPr txBox="1"/>
          <p:nvPr/>
        </p:nvSpPr>
        <p:spPr>
          <a:xfrm>
            <a:off x="762000" y="381000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5. </a:t>
            </a:r>
            <a:r>
              <a:rPr lang="en-US" sz="2700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案件情報テーブル</a:t>
            </a:r>
            <a:r>
              <a:rPr lang="en-US" sz="27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 (1/2)</a:t>
            </a:r>
            <a:endParaRPr dirty="0"/>
          </a:p>
        </p:txBody>
      </p:sp>
      <p:sp>
        <p:nvSpPr>
          <p:cNvPr id="173" name="Google Shape;173;p21"/>
          <p:cNvSpPr/>
          <p:nvPr/>
        </p:nvSpPr>
        <p:spPr>
          <a:xfrm>
            <a:off x="571500" y="381000"/>
            <a:ext cx="952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/>
        </p:nvSpPr>
        <p:spPr>
          <a:xfrm>
            <a:off x="571500" y="1085850"/>
            <a:ext cx="1160145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TB_matter（予算・進捗・フラグ</a:t>
            </a:r>
            <a:r>
              <a:rPr lang="en-US" sz="1404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）</a:t>
            </a:r>
            <a:endParaRPr dirty="0"/>
          </a:p>
        </p:txBody>
      </p:sp>
      <p:graphicFrame>
        <p:nvGraphicFramePr>
          <p:cNvPr id="180" name="Google Shape;180;p22"/>
          <p:cNvGraphicFramePr/>
          <p:nvPr>
            <p:extLst>
              <p:ext uri="{D42A27DB-BD31-4B8C-83A1-F6EECF244321}">
                <p14:modId xmlns:p14="http://schemas.microsoft.com/office/powerpoint/2010/main" val="3497935177"/>
              </p:ext>
            </p:extLst>
          </p:nvPr>
        </p:nvGraphicFramePr>
        <p:xfrm>
          <a:off x="571500" y="1333500"/>
          <a:ext cx="11039450" cy="53361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5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7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150">
                <a:tc>
                  <a:txBody>
                    <a:bodyPr/>
                    <a:lstStyle/>
                    <a:p>
                      <a:r>
                        <a:rPr lang="ja-JP" altLang="en-US" sz="1200" b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物理名</a:t>
                      </a:r>
                      <a:endParaRPr lang="ja-JP" altLang="en-US" sz="120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b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型</a:t>
                      </a:r>
                      <a:endParaRPr lang="ja-JP" altLang="en-US" sz="120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b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制約</a:t>
                      </a:r>
                      <a:endParaRPr lang="ja-JP" altLang="en-US" sz="120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b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説明</a:t>
                      </a:r>
                      <a:endParaRPr lang="ja-JP" altLang="en-US" sz="120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category_id</a:t>
                      </a:r>
                      <a:endParaRPr lang="en-US" sz="120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INT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FK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カテゴリ</a:t>
                      </a:r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ID（TB_category</a:t>
                      </a:r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参照）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est_man_hours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INT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予定工数（人時）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 dirty="0" err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est_amount</a:t>
                      </a:r>
                      <a:endParaRPr lang="en-US" sz="1200" b="0" dirty="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INT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概算予算（金額）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status_id</a:t>
                      </a:r>
                      <a:endParaRPr lang="en-US" sz="1200" dirty="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INT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FK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ステータス</a:t>
                      </a:r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ID</a:t>
                      </a:r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（</a:t>
                      </a:r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TB_status</a:t>
                      </a:r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参照）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progress_rate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REAL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進捗率（</a:t>
                      </a:r>
                      <a:r>
                        <a:rPr lang="en-US" altLang="zh-TW" sz="120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0%</a:t>
                      </a:r>
                      <a:r>
                        <a:rPr lang="zh-TW" altLang="en-US" sz="120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～</a:t>
                      </a:r>
                      <a:r>
                        <a:rPr lang="en-US" altLang="zh-TW" sz="120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100%</a:t>
                      </a:r>
                      <a:r>
                        <a:rPr lang="zh-TW" altLang="en-US" sz="120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）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start_date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TEXT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開始予定日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end_date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TEXT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完了予定日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monthly_report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TEXT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月次報告・実績内容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99351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remarks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TEXT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備考・差戻しログ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52345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budget_amount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予算総額（参照用）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05175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fixed_amount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実績金額（確定額）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151485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last_updated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TEXT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最終更新日時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087864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r>
                        <a:rPr lang="en-US" sz="1200" b="0" dirty="0" err="1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is_hidden</a:t>
                      </a:r>
                      <a:endParaRPr lang="en-US" sz="1200" b="0" dirty="0"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除外フラグ（</a:t>
                      </a:r>
                      <a:r>
                        <a:rPr lang="en-US" altLang="ja-JP" sz="120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1:</a:t>
                      </a:r>
                      <a:r>
                        <a:rPr lang="ja-JP" altLang="en-US" sz="120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除外済</a:t>
                      </a:r>
                      <a:r>
                        <a:rPr lang="en-US" altLang="ja-JP" sz="120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, 0:</a:t>
                      </a:r>
                      <a:r>
                        <a:rPr lang="ja-JP" altLang="en-US" sz="1200" dirty="0"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有効な案件）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930228"/>
                  </a:ext>
                </a:extLst>
              </a:tr>
            </a:tbl>
          </a:graphicData>
        </a:graphic>
      </p:graphicFrame>
      <p:sp>
        <p:nvSpPr>
          <p:cNvPr id="181" name="Google Shape;181;p22"/>
          <p:cNvSpPr txBox="1"/>
          <p:nvPr/>
        </p:nvSpPr>
        <p:spPr>
          <a:xfrm>
            <a:off x="762000" y="381000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5. </a:t>
            </a:r>
            <a:r>
              <a:rPr lang="en-US" sz="2700" b="1" i="0" u="none" strike="noStrike" cap="none" dirty="0" err="1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案件情報テーブル</a:t>
            </a:r>
            <a:r>
              <a:rPr lang="en-US" sz="2700" b="1" i="0" u="none" strike="noStrike" cap="none" dirty="0">
                <a:solidFill>
                  <a:srgbClr val="1E293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Urbanist"/>
                <a:sym typeface="Urbanist"/>
              </a:rPr>
              <a:t> (2/2)</a:t>
            </a:r>
            <a:endParaRPr dirty="0"/>
          </a:p>
        </p:txBody>
      </p:sp>
      <p:sp>
        <p:nvSpPr>
          <p:cNvPr id="182" name="Google Shape;182;p22"/>
          <p:cNvSpPr/>
          <p:nvPr/>
        </p:nvSpPr>
        <p:spPr>
          <a:xfrm>
            <a:off x="571500" y="381000"/>
            <a:ext cx="952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1083</Words>
  <Application>Microsoft Office PowerPoint</Application>
  <PresentationFormat>ワイド画面</PresentationFormat>
  <Paragraphs>330</Paragraphs>
  <Slides>11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Noto Sans JP</vt:lpstr>
      <vt:lpstr>Arial</vt:lpstr>
      <vt:lpstr>メイリオ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康之 加賀</cp:lastModifiedBy>
  <cp:revision>17</cp:revision>
  <dcterms:modified xsi:type="dcterms:W3CDTF">2026-05-11T05:19:38Z</dcterms:modified>
</cp:coreProperties>
</file>